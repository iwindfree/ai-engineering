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EA5E9"/>
                </a:solidFill>
                <a:latin typeface="Arial"/>
              </a:defRPr>
            </a:pPr>
            <a:r>
              <a:t>AI Engineering 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LLM 기초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4C8DC"/>
                </a:solidFill>
                <a:latin typeface="맑은 고딕"/>
              </a:defRPr>
            </a:pPr>
            <a:r>
              <a:t>토큰 · 토크나이저 ·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언어 모델(Language 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다음에 올 토큰을 예측하는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맑은 고딕"/>
              </a:defRPr>
            </a:pPr>
            <a:r>
              <a:t>"오늘 날씨가 정말 __"  →  "좋다" (0.85), "덥다" (0.10),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발전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• n-gram → RNN/LSTM → Transformer (2017)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• Attention 메커니즘으로 병렬 처리 &amp; 긴 문맥 이해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토큰(Token)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맑은 고딕"/>
              </a:defRPr>
            </a:pPr>
            <a:r>
              <a:t>LLM이 텍스트를 처리하는 기본 단위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5156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CF0"/>
                </a:solidFill>
                <a:latin typeface="Consolas"/>
              </a:defRPr>
            </a:pPr>
            <a:r>
              <a:t>"hello, my name is windfree."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A5E9"/>
                </a:solidFill>
                <a:latin typeface="Consolas"/>
              </a:defRPr>
            </a:pPr>
            <a:r>
              <a:t>→ [hello] [,] [ my] [ name] [ is] [ wind] [free] [.]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   15339   11   856    836    374   10160  10816  13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맑은 고딕"/>
              </a:defRPr>
            </a:pPr>
            <a:r>
              <a:t>• 모델마다 다른 토크나이저 사용 (tiktoken, SentencePiece 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맑은 고딕"/>
              </a:defRPr>
            </a:pPr>
            <a:r>
              <a:t>• 공백도 토큰에 포함 → 위치 정보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맑은 고딕"/>
              </a:defRPr>
            </a:pPr>
            <a:r>
              <a:t>• GPT-4 어휘 크기: 약 100,000개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한글 vs 영어 토큰 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"Hello, how are you?"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"안녕하세요, 어떻게 지내세요?"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371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2.7x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"The weather is nice."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"오늘 날씨가 좋네요."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2.5x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"I love programming."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맑은 고딕"/>
              </a:defRPr>
            </a:pPr>
            <a:r>
              <a:t>"나는 프로그래밍을 좋아합니다."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346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8346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3.2x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solidFill>
            <a:srgbClr val="FFF7E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2410C"/>
                </a:solidFill>
                <a:latin typeface="맑은 고딕"/>
              </a:defRPr>
            </a:pPr>
            <a:r>
              <a:t>⚠️  한글은 영어보다 2~3배 더 많은 토큰 사용 → API 비용 증가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LLM은 Stateless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CFF"/>
                </a:solidFill>
                <a:latin typeface="맑은 고딕"/>
              </a:defRPr>
            </a:pPr>
            <a:r>
              <a:t>모든 API 호출은 완전히 독립적 · 이전 대화를 기억하지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B464"/>
                </a:solidFill>
                <a:latin typeface="Consolas"/>
              </a:defRPr>
            </a:pPr>
            <a:r>
              <a:t># 첫 번째 호출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CF0"/>
                </a:solidFill>
                <a:latin typeface="Consolas"/>
              </a:defRPr>
            </a:pPr>
            <a:r>
              <a:t>messages = [{"role": "user", "content": "My name is windfree."}]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A5E9"/>
                </a:solidFill>
                <a:latin typeface="Consolas"/>
              </a:defRPr>
            </a:pPr>
            <a:r>
              <a:t>→ "Hello Windfree!"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B464"/>
                </a:solidFill>
                <a:latin typeface="Consolas"/>
              </a:defRPr>
            </a:pPr>
            <a:r>
              <a:t># 두 번째 호출 (새로운 호출)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CF0"/>
                </a:solidFill>
                <a:latin typeface="Consolas"/>
              </a:defRPr>
            </a:pPr>
            <a:r>
              <a:t>messages = [{"role": "user", "content": "What is my name?"}]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464"/>
                </a:solidFill>
                <a:latin typeface="Consolas"/>
              </a:defRPr>
            </a:pPr>
            <a:r>
              <a:t>→ "I don't know your name." 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해결책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8DC"/>
                </a:solidFill>
                <a:latin typeface="맑은 고딕"/>
              </a:defRPr>
            </a:pPr>
            <a:r>
              <a:t>• 이전 대화를 messages 배열에 포함하여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8DC"/>
                </a:solidFill>
                <a:latin typeface="맑은 고딕"/>
              </a:defRPr>
            </a:pPr>
            <a:r>
              <a:t>• 대화가 길어질수록 input 토큰 증가 → 비용 증가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메모리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무상태 LLM에서 대화 맥락을 유지하는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4592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컨텍스트 주입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이전 대화를 messages에 누적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60604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요약/압축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긴 대화를 요약하여 system prompt에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356616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Sliding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최근 N개 메시지만 유지, 오래된 메시지 삭제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26280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452628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외부 저장소에서 관련 정보 검색 후 주입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LLM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맑은 고딕"/>
              </a:defRPr>
            </a:pPr>
            <a:r>
              <a:t>학습된 모델로 새로운 입력에 대한 예측 수행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Auto-regressive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한 번에 하나의 토큰씩 순차적으로 생성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입력 토큰화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onsolas"/>
              </a:defRPr>
            </a:pPr>
            <a:r>
              <a:t>"Hello, how are" → [15496, 11, 1268, 527]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다음 토큰 확률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onsolas"/>
              </a:defRPr>
            </a:pPr>
            <a:r>
              <a:t>{"you": 0.85, "your": 0.10, ...}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토큰 선택 (Sampling)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onsolas"/>
              </a:defRPr>
            </a:pPr>
            <a:r>
              <a:t>"you" 선택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입력에 추가 후 반복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onsolas"/>
              </a:defRPr>
            </a:pPr>
            <a:r>
              <a:t>"Hello, how are you" → 2번으로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Sampling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Greedy (가장 높은 확률) · Top-k · Temperature (확률 분포 조절)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80160"/>
            <a:ext cx="10332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토큰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LLM의 기본 처리 단위, 모델마다 다른 토크나이저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560320"/>
            <a:ext cx="10332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한글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영어 대비 2~3배 토큰 사용 → 비용 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79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3840479"/>
            <a:ext cx="10332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Stateless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매 호출 독립적, 전체 대화를 매번 전송해야 맥락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5120640"/>
            <a:ext cx="10332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Auto-regressive 방식으로 토큰을 하나씩 순차 생성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DC"/>
                </a:solidFill>
                <a:latin typeface="맑은 고딕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